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46">
          <p15:clr>
            <a:srgbClr val="9AA0A6"/>
          </p15:clr>
        </p15:guide>
      </p15:sldGuideLst>
    </p:ext>
    <p:ext uri="GoogleSlidesCustomDataVersion2">
      <go:slidesCustomData xmlns:go="http://customooxmlschemas.google.com/" r:id="rId36" roundtripDataSignature="AMtx7mhRs++Xy0uYVsL/wiUw4sqhkWaW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6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cdf45d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96cdf45d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c8bb4c6e77e36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hc8bb4c6e77e36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70ab204f0c1ffc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h470ab204f0c1ffc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70ab204f0c1ff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h470ab204f0c1ff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7497c6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a7497c6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6cdf45d9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6cdf45d9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70ab204f0c1ff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h470ab204f0c1ff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cdf45d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6cdf45d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" name="Google Shape;1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5766624" y="2132500"/>
            <a:ext cx="330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7F7F7"/>
                </a:solidFill>
                <a:latin typeface="Saira"/>
                <a:ea typeface="Saira"/>
                <a:cs typeface="Saira"/>
                <a:sym typeface="Saira"/>
              </a:rPr>
              <a:t>RELATÓRIO</a:t>
            </a:r>
            <a:endParaRPr b="0" i="0" sz="2400" u="none" cap="none" strike="noStrike">
              <a:solidFill>
                <a:srgbClr val="F7F7F7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776910" y="2418739"/>
            <a:ext cx="303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6FE9FF"/>
                </a:solidFill>
                <a:latin typeface="Saira"/>
                <a:ea typeface="Saira"/>
                <a:cs typeface="Saira"/>
                <a:sym typeface="Saira"/>
              </a:rPr>
              <a:t>{{cliente}}</a:t>
            </a:r>
            <a:endParaRPr b="0" i="0" sz="1400" u="none" cap="none" strike="noStrike">
              <a:solidFill>
                <a:srgbClr val="6FE9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6FE9FF"/>
                </a:solidFill>
                <a:latin typeface="Saira"/>
                <a:ea typeface="Saira"/>
                <a:cs typeface="Saira"/>
                <a:sym typeface="Saira"/>
              </a:rPr>
              <a:t>{{periodo}}</a:t>
            </a:r>
            <a:r>
              <a:rPr lang="pt-BR">
                <a:solidFill>
                  <a:srgbClr val="6FE9FF"/>
                </a:solidFill>
                <a:latin typeface="Saira"/>
                <a:ea typeface="Saira"/>
                <a:cs typeface="Saira"/>
                <a:sym typeface="Saira"/>
              </a:rPr>
              <a:t/>
            </a:r>
            <a:r>
              <a:rPr b="0" i="0" lang="pt-BR" sz="1400" u="none" cap="none" strike="noStrike">
                <a:solidFill>
                  <a:srgbClr val="6FE9FF"/>
                </a:solidFill>
                <a:latin typeface="Saira"/>
                <a:ea typeface="Saira"/>
                <a:cs typeface="Saira"/>
                <a:sym typeface="Saira"/>
              </a:rPr>
              <a:t/>
            </a:r>
            <a:endParaRPr b="0" i="0" sz="1400" u="none" cap="none" strike="noStrike">
              <a:solidFill>
                <a:srgbClr val="6FE9FF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6cdf45d92_0_12"/>
          <p:cNvSpPr txBox="1"/>
          <p:nvPr/>
        </p:nvSpPr>
        <p:spPr>
          <a:xfrm>
            <a:off x="94425" y="551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Públicos Ativos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2" name="{{tabela:conjuntos}}"/>
          <p:cNvSpPr txBox="1"/>
          <p:nvPr/>
        </p:nvSpPr>
        <p:spPr>
          <a:xfrm>
            <a:off x="152400" y="761675"/>
            <a:ext cx="8839200" cy="190918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{{tabela:conjuntos}}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c8bb4c6e77e36c9_0_0"/>
          <p:cNvSpPr txBox="1"/>
          <p:nvPr/>
        </p:nvSpPr>
        <p:spPr>
          <a:xfrm>
            <a:off x="94425" y="551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Anúncios Ativos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3" name="{{tabela:anuncios}}"/>
          <p:cNvSpPr txBox="1"/>
          <p:nvPr/>
        </p:nvSpPr>
        <p:spPr>
          <a:xfrm>
            <a:off x="152400" y="761675"/>
            <a:ext cx="8839202" cy="34974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{{tabela:anuncios}}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470ab204f0c1ffc5_0_2"/>
          <p:cNvSpPr txBox="1"/>
          <p:nvPr/>
        </p:nvSpPr>
        <p:spPr>
          <a:xfrm>
            <a:off x="94425" y="551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Campanhas Google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4" name="{{tabela:google}}"/>
          <p:cNvSpPr txBox="1"/>
          <p:nvPr/>
        </p:nvSpPr>
        <p:spPr>
          <a:xfrm>
            <a:off x="152400" y="761675"/>
            <a:ext cx="8839202" cy="34974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{{tabela:google}}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470ab204f0c1ffc5_0_7"/>
          <p:cNvSpPr txBox="1"/>
          <p:nvPr/>
        </p:nvSpPr>
        <p:spPr>
          <a:xfrm>
            <a:off x="94425" y="551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Qualificação por público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5" name="{{tabela:qualificacao}}"/>
          <p:cNvSpPr txBox="1"/>
          <p:nvPr/>
        </p:nvSpPr>
        <p:spPr>
          <a:xfrm>
            <a:off x="152400" y="761675"/>
            <a:ext cx="8839201" cy="22254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{{tabela:qualificacao}}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a7497c692_0_0"/>
          <p:cNvSpPr txBox="1"/>
          <p:nvPr/>
        </p:nvSpPr>
        <p:spPr>
          <a:xfrm>
            <a:off x="354650" y="370625"/>
            <a:ext cx="85473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4D0C8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PIPELINE DE VENDAS</a:t>
            </a:r>
            <a:r>
              <a:rPr b="0" i="0" lang="pt-BR" sz="2000" u="none" cap="none" strike="noStrike">
                <a:solidFill>
                  <a:srgbClr val="3728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2000" u="none" cap="none" strike="noStrike">
                <a:solidFill>
                  <a:srgbClr val="4D0C82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0" i="0" lang="pt-BR" sz="2000" u="none" cap="none" strike="noStrike">
                <a:solidFill>
                  <a:srgbClr val="3728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2000" u="none" cap="none" strike="noStrike">
                <a:solidFill>
                  <a:srgbClr val="37285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CRM | {{periodo}}</a:t>
            </a:r>
            <a:endParaRPr b="0" i="0" sz="2000" u="none" cap="none" strike="noStrike">
              <a:solidFill>
                <a:srgbClr val="37285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5" name="Google Shape;85;g3fa7497c692_0_0"/>
          <p:cNvSpPr/>
          <p:nvPr/>
        </p:nvSpPr>
        <p:spPr>
          <a:xfrm>
            <a:off x="2417757" y="954925"/>
            <a:ext cx="2814300" cy="579000"/>
          </a:xfrm>
          <a:prstGeom prst="roundRect">
            <a:avLst>
              <a:gd fmla="val 16667" name="adj"/>
            </a:avLst>
          </a:prstGeom>
          <a:solidFill>
            <a:srgbClr val="6D0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a7497c692_0_0"/>
          <p:cNvSpPr/>
          <p:nvPr/>
        </p:nvSpPr>
        <p:spPr>
          <a:xfrm>
            <a:off x="3195475" y="3920647"/>
            <a:ext cx="1330500" cy="579000"/>
          </a:xfrm>
          <a:prstGeom prst="roundRect">
            <a:avLst>
              <a:gd fmla="val 16667" name="adj"/>
            </a:avLst>
          </a:prstGeom>
          <a:solidFill>
            <a:srgbClr val="6D0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a7497c692_0_0"/>
          <p:cNvSpPr txBox="1"/>
          <p:nvPr/>
        </p:nvSpPr>
        <p:spPr>
          <a:xfrm>
            <a:off x="3448700" y="964525"/>
            <a:ext cx="75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{{rotulo:leads}}</a:t>
            </a:r>
            <a:endParaRPr b="0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{{leads}}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g3fa7497c692_0_0"/>
          <p:cNvSpPr txBox="1"/>
          <p:nvPr/>
        </p:nvSpPr>
        <p:spPr>
          <a:xfrm>
            <a:off x="3333157" y="3912400"/>
            <a:ext cx="10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{{rotulo:vendas}}</a:t>
            </a:r>
            <a:endParaRPr b="0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{{vendas}}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fa7497c69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496533">
            <a:off x="8194241" y="4193743"/>
            <a:ext cx="815788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fa7497c692_0_0"/>
          <p:cNvSpPr/>
          <p:nvPr/>
        </p:nvSpPr>
        <p:spPr>
          <a:xfrm>
            <a:off x="5709700" y="3925150"/>
            <a:ext cx="1873500" cy="57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6D03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a7497c692_0_0"/>
          <p:cNvSpPr txBox="1"/>
          <p:nvPr/>
        </p:nvSpPr>
        <p:spPr>
          <a:xfrm>
            <a:off x="5709700" y="3912400"/>
            <a:ext cx="1873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4D0C82"/>
                </a:solidFill>
                <a:latin typeface="Montserrat"/>
                <a:ea typeface="Montserrat"/>
                <a:cs typeface="Montserrat"/>
                <a:sym typeface="Montserrat"/>
              </a:rPr>
              <a:t>Valor das Vendas</a:t>
            </a:r>
            <a:endParaRPr b="0" i="0" sz="1100" u="none" cap="none" strike="noStrike">
              <a:solidFill>
                <a:srgbClr val="4D0C8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600" u="none" cap="none" strike="noStrike">
                <a:solidFill>
                  <a:srgbClr val="4D0C82"/>
                </a:solidFill>
                <a:latin typeface="Arial"/>
                <a:ea typeface="Arial"/>
                <a:cs typeface="Arial"/>
                <a:sym typeface="Arial"/>
              </a:rPr>
              <a:t>{{valor_vendas}}</a:t>
            </a:r>
            <a:endParaRPr b="1" i="0" sz="1600" u="none" cap="none" strike="noStrike">
              <a:solidFill>
                <a:srgbClr val="4D0C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fa7497c692_0_0"/>
          <p:cNvCxnSpPr>
            <a:stCxn id="85" idx="1"/>
            <a:endCxn id="86" idx="1"/>
          </p:cNvCxnSpPr>
          <p:nvPr/>
        </p:nvCxnSpPr>
        <p:spPr>
          <a:xfrm>
            <a:off x="2417757" y="1244425"/>
            <a:ext cx="777600" cy="2965800"/>
          </a:xfrm>
          <a:prstGeom prst="bentConnector3">
            <a:avLst>
              <a:gd fmla="val -28348" name="adj1"/>
            </a:avLst>
          </a:prstGeom>
          <a:noFill/>
          <a:ln cap="flat" cmpd="sng" w="28575">
            <a:solidFill>
              <a:srgbClr val="6D03B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fa7497c692_0_0"/>
          <p:cNvSpPr txBox="1"/>
          <p:nvPr/>
        </p:nvSpPr>
        <p:spPr>
          <a:xfrm>
            <a:off x="945350" y="2656063"/>
            <a:ext cx="171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D03B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94" name="Google Shape;94;g3fa7497c692_0_0"/>
          <p:cNvCxnSpPr>
            <a:stCxn id="86" idx="3"/>
            <a:endCxn id="91" idx="1"/>
          </p:cNvCxnSpPr>
          <p:nvPr/>
        </p:nvCxnSpPr>
        <p:spPr>
          <a:xfrm>
            <a:off x="4525975" y="4210147"/>
            <a:ext cx="1183800" cy="2400"/>
          </a:xfrm>
          <a:prstGeom prst="straightConnector1">
            <a:avLst/>
          </a:prstGeom>
          <a:noFill/>
          <a:ln cap="flat" cmpd="sng" w="9525">
            <a:solidFill>
              <a:srgbClr val="4D0C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g3fa7497c692_0_0"/>
          <p:cNvSpPr/>
          <p:nvPr/>
        </p:nvSpPr>
        <p:spPr>
          <a:xfrm>
            <a:off x="2611726" y="1990138"/>
            <a:ext cx="2426400" cy="579000"/>
          </a:xfrm>
          <a:prstGeom prst="roundRect">
            <a:avLst>
              <a:gd fmla="val 16667" name="adj"/>
            </a:avLst>
          </a:prstGeom>
          <a:solidFill>
            <a:srgbClr val="6D0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a7497c692_0_0"/>
          <p:cNvSpPr txBox="1"/>
          <p:nvPr/>
        </p:nvSpPr>
        <p:spPr>
          <a:xfrm>
            <a:off x="2611675" y="1994550"/>
            <a:ext cx="2426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{{rotulo:interessados}}</a:t>
            </a:r>
            <a:endParaRPr b="0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{{interessados}}</a:t>
            </a:r>
            <a:endParaRPr b="1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g3fa7497c692_0_0"/>
          <p:cNvSpPr/>
          <p:nvPr/>
        </p:nvSpPr>
        <p:spPr>
          <a:xfrm>
            <a:off x="3057325" y="3025363"/>
            <a:ext cx="1606800" cy="579000"/>
          </a:xfrm>
          <a:prstGeom prst="roundRect">
            <a:avLst>
              <a:gd fmla="val 16667" name="adj"/>
            </a:avLst>
          </a:prstGeom>
          <a:solidFill>
            <a:srgbClr val="6D0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a7497c692_0_0"/>
          <p:cNvSpPr txBox="1"/>
          <p:nvPr/>
        </p:nvSpPr>
        <p:spPr>
          <a:xfrm>
            <a:off x="3074124" y="3030150"/>
            <a:ext cx="15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{{rotulo:propostas}}</a:t>
            </a:r>
            <a:endParaRPr b="0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300">
                <a:solidFill>
                  <a:schemeClr val="lt1"/>
                </a:solidFill>
              </a:rPr>
              <a:t>{{propostas}}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a7497c692_0_0"/>
          <p:cNvSpPr/>
          <p:nvPr/>
        </p:nvSpPr>
        <p:spPr>
          <a:xfrm>
            <a:off x="6034650" y="964525"/>
            <a:ext cx="2295600" cy="57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6D03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a7497c692_0_0"/>
          <p:cNvSpPr txBox="1"/>
          <p:nvPr/>
        </p:nvSpPr>
        <p:spPr>
          <a:xfrm>
            <a:off x="6034800" y="964525"/>
            <a:ext cx="2295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4D0C82"/>
                </a:solidFill>
                <a:latin typeface="Montserrat"/>
                <a:ea typeface="Montserrat"/>
                <a:cs typeface="Montserrat"/>
                <a:sym typeface="Montserrat"/>
              </a:rPr>
              <a:t>Valor investido</a:t>
            </a:r>
            <a:endParaRPr b="0" i="0" sz="1100" u="none" cap="none" strike="noStrike">
              <a:solidFill>
                <a:srgbClr val="4D0C8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600">
                <a:solidFill>
                  <a:srgbClr val="4D0C82"/>
                </a:solidFill>
              </a:rPr>
              <a:t>{{investimento}}</a:t>
            </a:r>
            <a:endParaRPr b="1" i="0" sz="1600" u="none" cap="none" strike="noStrike">
              <a:solidFill>
                <a:srgbClr val="4D0C8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cdf45d92_0_4"/>
          <p:cNvSpPr txBox="1"/>
          <p:nvPr/>
        </p:nvSpPr>
        <p:spPr>
          <a:xfrm>
            <a:off x="549800" y="2492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Evolução de oportunidades | CRM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7" name="{{grafico:oportunidades}}"/>
          <p:cNvSpPr txBox="1"/>
          <p:nvPr/>
        </p:nvSpPr>
        <p:spPr>
          <a:xfrm>
            <a:off x="152400" y="955775"/>
            <a:ext cx="6526131" cy="40353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{{grafico:oportunidades}}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70ab204f0c1ffc5_0_13"/>
          <p:cNvSpPr txBox="1"/>
          <p:nvPr/>
        </p:nvSpPr>
        <p:spPr>
          <a:xfrm>
            <a:off x="549800" y="2492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Evolução </a:t>
            </a:r>
            <a:r>
              <a:rPr lang="pt-BR" sz="2400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das taxas</a:t>
            </a: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 | CRM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8" name="{{grafico:taxas}}"/>
          <p:cNvSpPr txBox="1"/>
          <p:nvPr/>
        </p:nvSpPr>
        <p:spPr>
          <a:xfrm>
            <a:off x="152400" y="955775"/>
            <a:ext cx="6526131" cy="40353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{{grafico:taxas}}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cdf45d92_0_24"/>
          <p:cNvSpPr txBox="1"/>
          <p:nvPr/>
        </p:nvSpPr>
        <p:spPr>
          <a:xfrm>
            <a:off x="549800" y="249275"/>
            <a:ext cx="57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6900AF"/>
                </a:solidFill>
                <a:latin typeface="Saira ExtraBold"/>
                <a:ea typeface="Saira ExtraBold"/>
                <a:cs typeface="Saira ExtraBold"/>
                <a:sym typeface="Saira ExtraBold"/>
              </a:rPr>
              <a:t>Investimento em anúncios</a:t>
            </a:r>
            <a:endParaRPr b="0" i="0" sz="2400" u="none" cap="none" strike="noStrike">
              <a:solidFill>
                <a:srgbClr val="6900AF"/>
              </a:solidFill>
              <a:latin typeface="Saira ExtraBold"/>
              <a:ea typeface="Saira ExtraBold"/>
              <a:cs typeface="Saira ExtraBold"/>
              <a:sym typeface="Saira ExtraBold"/>
            </a:endParaRPr>
          </a:p>
        </p:txBody>
      </p:sp>
      <p:sp>
        <p:nvSpPr>
          <p:cNvPr id="909" name="{{grafico:investimento}}"/>
          <p:cNvSpPr txBox="1"/>
          <p:nvPr/>
        </p:nvSpPr>
        <p:spPr>
          <a:xfrm>
            <a:off x="173038" y="940025"/>
            <a:ext cx="6526131" cy="403532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1000">
                <a:solidFill>
                  <a:srgbClr val="999999"/>
                </a:solidFill>
                <a:latin typeface="Saira"/>
              </a:rPr>
              <a:t>{{grafico:investimento}}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/>
        </p:nvSpPr>
        <p:spPr>
          <a:xfrm>
            <a:off x="4878125" y="0"/>
            <a:ext cx="3934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aira"/>
              <a:buChar char="●"/>
            </a:pPr>
            <a:r>
              <a:rPr lang="pt-BR" sz="1000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rPr>
              <a:t>{{acoes}}</a:t>
            </a:r>
            <a:r>
              <a:rPr lang="pt-BR" sz="1000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rPr>
              <a:t/>
            </a:r>
            <a:r>
              <a:rPr lang="pt-BR" sz="1000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rPr>
              <a:t/>
            </a:r>
            <a:endParaRPr b="0" i="0" sz="1000" u="none" cap="none" strike="noStrike">
              <a:solidFill>
                <a:schemeClr val="l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549800" y="0"/>
            <a:ext cx="3783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lt1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Ações realizadas e Próximos passos</a:t>
            </a:r>
            <a:endParaRPr b="0" i="0" sz="3000" u="none" cap="none" strike="noStrike">
              <a:solidFill>
                <a:schemeClr val="lt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